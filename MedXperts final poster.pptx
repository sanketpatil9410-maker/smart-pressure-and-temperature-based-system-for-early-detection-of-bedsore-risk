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30279975" cy="42808525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3">
          <p15:clr>
            <a:srgbClr val="A4A3A4"/>
          </p15:clr>
        </p15:guide>
        <p15:guide id="2" pos="993">
          <p15:clr>
            <a:srgbClr val="A4A3A4"/>
          </p15:clr>
        </p15:guide>
        <p15:guide id="3" pos="18081">
          <p15:clr>
            <a:srgbClr val="A4A3A4"/>
          </p15:clr>
        </p15:guide>
        <p15:guide id="4" pos="96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B4"/>
    <a:srgbClr val="000000"/>
    <a:srgbClr val="E2E3E4"/>
    <a:srgbClr val="FFFFFF"/>
    <a:srgbClr val="FAFAFA"/>
    <a:srgbClr val="FF9900"/>
    <a:srgbClr val="009682"/>
    <a:srgbClr val="FFD243"/>
    <a:srgbClr val="FFE285"/>
    <a:srgbClr val="FFE6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0" autoAdjust="0"/>
    <p:restoredTop sz="96949" autoAdjust="0"/>
  </p:normalViewPr>
  <p:slideViewPr>
    <p:cSldViewPr snapToObjects="1">
      <p:cViewPr>
        <p:scale>
          <a:sx n="33" d="100"/>
          <a:sy n="33" d="100"/>
        </p:scale>
        <p:origin x="994" y="-1632"/>
      </p:cViewPr>
      <p:guideLst>
        <p:guide orient="horz" pos="2443"/>
        <p:guide pos="993"/>
        <p:guide pos="18081"/>
        <p:guide pos="96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77" d="100"/>
          <a:sy n="77" d="100"/>
        </p:scale>
        <p:origin x="-3954" y="-102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6" tIns="49518" rIns="99036" bIns="49518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6" tIns="49518" rIns="99036" bIns="49518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de-DE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92338" y="768350"/>
            <a:ext cx="27146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6" tIns="49518" rIns="99036" bIns="49518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6" tIns="49518" rIns="99036" bIns="49518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AA366ED-5852-4BDC-B57B-839297DDF07E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96905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366ED-5852-4BDC-B57B-839297DDF07E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74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71713" y="13298488"/>
            <a:ext cx="25736550" cy="917575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541838" y="24258588"/>
            <a:ext cx="21196300" cy="10939462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92363" y="27508200"/>
            <a:ext cx="25738137" cy="85026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392363" y="18143538"/>
            <a:ext cx="25738137" cy="93646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393950" y="11969750"/>
            <a:ext cx="12742863" cy="6049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289213" y="11969750"/>
            <a:ext cx="12742862" cy="6049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4475" y="1714500"/>
            <a:ext cx="27251025" cy="713422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14475" y="9582150"/>
            <a:ext cx="13377863" cy="3994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14475" y="13576300"/>
            <a:ext cx="13377863" cy="24663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15381288" y="9582150"/>
            <a:ext cx="13384212" cy="3994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15381288" y="13576300"/>
            <a:ext cx="13384212" cy="24663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14475" y="1704975"/>
            <a:ext cx="9961563" cy="725328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1837988" y="1704975"/>
            <a:ext cx="16927512" cy="365347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514475" y="8958263"/>
            <a:ext cx="9961563" cy="292814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35663" y="29965650"/>
            <a:ext cx="18167350" cy="3538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935663" y="3824288"/>
            <a:ext cx="18167350" cy="25685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935663" y="33504188"/>
            <a:ext cx="18167350" cy="5022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21623338" y="4699000"/>
            <a:ext cx="6408737" cy="13320713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392363" y="4699000"/>
            <a:ext cx="19078575" cy="13320713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" name="Picture 31" descr="2009_11_rahmen_wiss-post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588" y="1588"/>
            <a:ext cx="30276800" cy="42805350"/>
          </a:xfrm>
          <a:prstGeom prst="rect">
            <a:avLst/>
          </a:prstGeom>
          <a:noFill/>
        </p:spPr>
      </p:pic>
      <p:pic>
        <p:nvPicPr>
          <p:cNvPr id="7" name="Picture 6" descr="A logo with a symbol in the middle&#10;&#10;Description automatically generated">
            <a:extLst>
              <a:ext uri="{FF2B5EF4-FFF2-40B4-BE49-F238E27FC236}">
                <a16:creationId xmlns:a16="http://schemas.microsoft.com/office/drawing/2014/main" id="{B2532007-38B4-C856-433B-DF677E05B65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936089"/>
            <a:ext cx="3311443" cy="3311445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2392363" y="4699000"/>
            <a:ext cx="25563512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2393950" y="11969750"/>
            <a:ext cx="25638125" cy="604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Aufzählungspunkt 1</a:t>
            </a:r>
          </a:p>
          <a:p>
            <a:pPr lvl="1"/>
            <a:r>
              <a:rPr lang="de-DE"/>
              <a:t>Aufzählungspunkt 2</a:t>
            </a:r>
          </a:p>
          <a:p>
            <a:pPr lvl="2"/>
            <a:r>
              <a:rPr lang="de-DE"/>
              <a:t>Aufzählungspunkt 3</a:t>
            </a:r>
          </a:p>
          <a:p>
            <a:pPr lvl="3"/>
            <a:r>
              <a:rPr lang="de-DE"/>
              <a:t>Aufzählungspunkt 4</a:t>
            </a:r>
          </a:p>
          <a:p>
            <a:pPr lvl="4"/>
            <a:r>
              <a:rPr lang="de-DE"/>
              <a:t>Aufzählungspunkt 5</a:t>
            </a:r>
          </a:p>
          <a:p>
            <a:pPr lvl="4"/>
            <a:r>
              <a:rPr lang="de-DE"/>
              <a:t>Aufzählungspunkt 6</a:t>
            </a:r>
          </a:p>
          <a:p>
            <a:pPr lvl="0"/>
            <a:r>
              <a:rPr lang="de-DE"/>
              <a:t>Aufzählungspunkt 7</a:t>
            </a:r>
          </a:p>
          <a:p>
            <a:pPr lvl="0"/>
            <a:r>
              <a:rPr lang="de-DE"/>
              <a:t>Aufzählungspunkt 8</a:t>
            </a:r>
          </a:p>
          <a:p>
            <a:pPr lvl="0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8E5AC85-0BB7-B3A5-FC7A-E3D7DF199599}"/>
              </a:ext>
            </a:extLst>
          </p:cNvPr>
          <p:cNvSpPr/>
          <p:nvPr userDrawn="1"/>
        </p:nvSpPr>
        <p:spPr bwMode="auto">
          <a:xfrm>
            <a:off x="20036531" y="41134454"/>
            <a:ext cx="9577064" cy="1368152"/>
          </a:xfrm>
          <a:prstGeom prst="rect">
            <a:avLst/>
          </a:prstGeom>
          <a:solidFill>
            <a:srgbClr val="E2E3E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8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www.iitg.ac.in</a:t>
            </a:r>
            <a:endParaRPr kumimoji="0" lang="en-US" sz="8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B19F7879-6F2B-24D3-D9FE-794B275A2B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5331" y="1273448"/>
            <a:ext cx="19616251" cy="260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0" anchor="b"/>
          <a:lstStyle>
            <a:lvl1pPr defTabSz="4176713">
              <a:defRPr>
                <a:solidFill>
                  <a:schemeClr val="tx1"/>
                </a:solidFill>
                <a:latin typeface="Arial" charset="0"/>
              </a:defRPr>
            </a:lvl1pPr>
            <a:lvl2pPr defTabSz="4176713">
              <a:defRPr>
                <a:solidFill>
                  <a:schemeClr val="tx1"/>
                </a:solidFill>
                <a:latin typeface="Arial" charset="0"/>
              </a:defRPr>
            </a:lvl2pPr>
            <a:lvl3pPr defTabSz="4176713">
              <a:defRPr>
                <a:solidFill>
                  <a:schemeClr val="tx1"/>
                </a:solidFill>
                <a:latin typeface="Arial" charset="0"/>
              </a:defRPr>
            </a:lvl3pPr>
            <a:lvl4pPr defTabSz="4176713">
              <a:defRPr>
                <a:solidFill>
                  <a:schemeClr val="tx1"/>
                </a:solidFill>
                <a:latin typeface="Arial" charset="0"/>
              </a:defRPr>
            </a:lvl4pPr>
            <a:lvl5pPr defTabSz="4176713">
              <a:defRPr>
                <a:solidFill>
                  <a:schemeClr val="tx1"/>
                </a:solidFill>
                <a:latin typeface="Arial" charset="0"/>
              </a:defRPr>
            </a:lvl5pPr>
            <a:lvl6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1767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r>
              <a:rPr lang="en-US" sz="4800" dirty="0">
                <a:solidFill>
                  <a:schemeClr val="bg2"/>
                </a:solidFill>
              </a:rPr>
              <a:t>Jyoti and </a:t>
            </a:r>
            <a:r>
              <a:rPr lang="en-US" sz="4800" dirty="0" err="1">
                <a:solidFill>
                  <a:schemeClr val="bg2"/>
                </a:solidFill>
              </a:rPr>
              <a:t>Bhupat</a:t>
            </a:r>
            <a:r>
              <a:rPr lang="en-US" sz="4800" dirty="0">
                <a:solidFill>
                  <a:schemeClr val="bg2"/>
                </a:solidFill>
              </a:rPr>
              <a:t> Mehta School of Health Science and Technology </a:t>
            </a:r>
          </a:p>
          <a:p>
            <a:pPr algn="r">
              <a:lnSpc>
                <a:spcPct val="112000"/>
              </a:lnSpc>
            </a:pPr>
            <a:r>
              <a:rPr lang="de-DE" sz="4800" dirty="0">
                <a:solidFill>
                  <a:schemeClr val="bg2"/>
                </a:solidFill>
              </a:rPr>
              <a:t>Indian Institute </a:t>
            </a:r>
            <a:r>
              <a:rPr lang="de-DE" sz="4800" dirty="0" err="1">
                <a:solidFill>
                  <a:schemeClr val="bg2"/>
                </a:solidFill>
              </a:rPr>
              <a:t>of</a:t>
            </a:r>
            <a:r>
              <a:rPr lang="de-DE" sz="4800" dirty="0">
                <a:solidFill>
                  <a:schemeClr val="bg2"/>
                </a:solidFill>
              </a:rPr>
              <a:t> Technology,  </a:t>
            </a:r>
            <a:r>
              <a:rPr lang="de-DE" sz="4800" dirty="0" err="1">
                <a:solidFill>
                  <a:schemeClr val="bg2"/>
                </a:solidFill>
              </a:rPr>
              <a:t>Guwahati</a:t>
            </a:r>
            <a:endParaRPr lang="de-DE" sz="4800" dirty="0">
              <a:solidFill>
                <a:schemeClr val="bg2"/>
              </a:solidFill>
            </a:endParaRPr>
          </a:p>
          <a:p>
            <a:pPr algn="r">
              <a:lnSpc>
                <a:spcPct val="112000"/>
              </a:lnSpc>
            </a:pPr>
            <a:r>
              <a:rPr lang="de-DE" sz="4800" dirty="0">
                <a:solidFill>
                  <a:schemeClr val="bg2"/>
                </a:solidFill>
              </a:rPr>
              <a:t>781039 </a:t>
            </a:r>
            <a:r>
              <a:rPr lang="de-DE" sz="4800" dirty="0" err="1">
                <a:solidFill>
                  <a:schemeClr val="bg2"/>
                </a:solidFill>
              </a:rPr>
              <a:t>Guwahati</a:t>
            </a:r>
            <a:r>
              <a:rPr lang="de-DE" sz="4800" dirty="0">
                <a:solidFill>
                  <a:schemeClr val="bg2"/>
                </a:solidFill>
              </a:rPr>
              <a:t>, Assam, India</a:t>
            </a:r>
            <a:endParaRPr lang="en-US" sz="4800" dirty="0">
              <a:solidFill>
                <a:schemeClr val="bg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2pPr>
      <a:lvl3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3pPr>
      <a:lvl4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4pPr>
      <a:lvl5pPr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5pPr>
      <a:lvl6pPr marL="457200"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6pPr>
      <a:lvl7pPr marL="914400"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7pPr>
      <a:lvl8pPr marL="1371600"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8pPr>
      <a:lvl9pPr marL="1828800" algn="l" defTabSz="4176713" rtl="0" eaLnBrk="1" fontAlgn="base" hangingPunct="1">
        <a:spcBef>
          <a:spcPct val="0"/>
        </a:spcBef>
        <a:spcAft>
          <a:spcPct val="0"/>
        </a:spcAft>
        <a:defRPr sz="8000" b="1">
          <a:solidFill>
            <a:schemeClr val="tx1"/>
          </a:solidFill>
          <a:latin typeface="Arial" charset="0"/>
        </a:defRPr>
      </a:lvl9pPr>
    </p:titleStyle>
    <p:bodyStyle>
      <a:lvl1pPr marL="609600" indent="-609600" algn="l" defTabSz="4176713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4000">
          <a:solidFill>
            <a:srgbClr val="000000"/>
          </a:solidFill>
          <a:latin typeface="+mn-lt"/>
          <a:ea typeface="+mn-ea"/>
          <a:cs typeface="+mn-cs"/>
        </a:defRPr>
      </a:lvl1pPr>
      <a:lvl2pPr marL="1447800" indent="-658813" algn="l" defTabSz="4176713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4000">
          <a:solidFill>
            <a:schemeClr val="tx1"/>
          </a:solidFill>
          <a:latin typeface="+mn-lt"/>
        </a:defRPr>
      </a:lvl2pPr>
      <a:lvl3pPr marL="22479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4000">
          <a:solidFill>
            <a:schemeClr val="tx1"/>
          </a:solidFill>
          <a:latin typeface="+mn-lt"/>
        </a:defRPr>
      </a:lvl3pPr>
      <a:lvl4pPr marL="30480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4000">
          <a:solidFill>
            <a:schemeClr val="tx1"/>
          </a:solidFill>
          <a:latin typeface="+mn-lt"/>
        </a:defRPr>
      </a:lvl4pPr>
      <a:lvl5pPr marL="38481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4000">
          <a:solidFill>
            <a:schemeClr val="tx1"/>
          </a:solidFill>
          <a:latin typeface="+mn-lt"/>
        </a:defRPr>
      </a:lvl5pPr>
      <a:lvl6pPr marL="43053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4000">
          <a:solidFill>
            <a:schemeClr val="tx1"/>
          </a:solidFill>
          <a:latin typeface="+mn-lt"/>
        </a:defRPr>
      </a:lvl6pPr>
      <a:lvl7pPr marL="47625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4000">
          <a:solidFill>
            <a:schemeClr val="tx1"/>
          </a:solidFill>
          <a:latin typeface="+mn-lt"/>
        </a:defRPr>
      </a:lvl7pPr>
      <a:lvl8pPr marL="52197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4000">
          <a:solidFill>
            <a:schemeClr val="tx1"/>
          </a:solidFill>
          <a:latin typeface="+mn-lt"/>
        </a:defRPr>
      </a:lvl8pPr>
      <a:lvl9pPr marL="5676900" indent="-620713" algn="l" defTabSz="4176713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4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" name="Abgerundetes Rechteck 24">
                <a:extLst>
                  <a:ext uri="{FF2B5EF4-FFF2-40B4-BE49-F238E27FC236}">
                    <a16:creationId xmlns:a16="http://schemas.microsoft.com/office/drawing/2014/main" id="{7EE18412-1520-141D-F175-B5A7C982AF80}"/>
                  </a:ext>
                </a:extLst>
              </p:cNvPr>
              <p:cNvSpPr/>
              <p:nvPr/>
            </p:nvSpPr>
            <p:spPr bwMode="auto">
              <a:xfrm>
                <a:off x="1252263" y="20690500"/>
                <a:ext cx="26891999" cy="11885852"/>
              </a:xfrm>
              <a:prstGeom prst="roundRect">
                <a:avLst>
                  <a:gd name="adj" fmla="val 5782"/>
                </a:avLst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1016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4800" b="1" dirty="0">
                    <a:solidFill>
                      <a:srgbClr val="0069B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</a:t>
                </a:r>
                <a:r>
                  <a:rPr lang="en-US" sz="4800" b="1" dirty="0">
                    <a:solidFill>
                      <a:srgbClr val="0069B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 and </a:t>
                </a:r>
                <a:r>
                  <a:rPr lang="en-IN" sz="4800" b="1" dirty="0">
                    <a:solidFill>
                      <a:srgbClr val="0069B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Achievements</a:t>
                </a:r>
              </a:p>
              <a:p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Arterial Capillary Closure Pressure:</a:t>
                </a: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32 mmHg </a:t>
                </a:r>
                <a:r>
                  <a:rPr lang="en-IN" sz="4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(Baseline)</a:t>
                </a:r>
                <a:endParaRPr lang="en-IN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Indian Sacral Area:</a:t>
                </a: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100–105 cm²</a:t>
                </a:r>
              </a:p>
              <a:p>
                <a:r>
                  <a:rPr lang="en-I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</a:t>
                </a:r>
                <a:r>
                  <a:rPr lang="en-IN" sz="4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Pressure x Area (Pressure to force conversion)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4800" b="1" i="1"/>
                        <m:t>𝐑𝐢𝐬𝐤𝐒𝐜𝐨𝐫𝐞</m:t>
                      </m:r>
                      <m:r>
                        <a:rPr lang="en-IN" sz="4800"/>
                        <m:t>=</m:t>
                      </m:r>
                      <m:d>
                        <m:dPr>
                          <m:ctrlPr>
                            <a:rPr lang="ar-AE" sz="4800" i="1"/>
                          </m:ctrlPr>
                        </m:dPr>
                        <m:e>
                          <m:r>
                            <a:rPr lang="ar-AE" sz="4800" i="1"/>
                            <m:t>𝐹</m:t>
                          </m:r>
                          <m:r>
                            <a:rPr lang="ar-AE" sz="4800"/>
                            <m:t>×</m:t>
                          </m:r>
                          <m:r>
                            <a:rPr lang="ar-AE" sz="4800"/>
                            <m:t>45</m:t>
                          </m:r>
                        </m:e>
                      </m:d>
                      <m:r>
                        <a:rPr lang="ar-AE" sz="4800"/>
                        <m:t>+</m:t>
                      </m:r>
                      <m:d>
                        <m:dPr>
                          <m:ctrlPr>
                            <a:rPr lang="ar-AE" sz="4800" i="1"/>
                          </m:ctrlPr>
                        </m:dPr>
                        <m:e>
                          <m:r>
                            <a:rPr lang="ar-AE" sz="4800" i="1"/>
                            <m:t>𝑇</m:t>
                          </m:r>
                          <m:r>
                            <a:rPr lang="ar-AE" sz="4800"/>
                            <m:t>×</m:t>
                          </m:r>
                          <m:r>
                            <a:rPr lang="ar-AE" sz="4800"/>
                            <m:t>20</m:t>
                          </m:r>
                        </m:e>
                      </m:d>
                      <m:r>
                        <a:rPr lang="ar-AE" sz="4800"/>
                        <m:t>+</m:t>
                      </m:r>
                      <m:d>
                        <m:dPr>
                          <m:ctrlPr>
                            <a:rPr lang="ar-AE" sz="4800" i="1"/>
                          </m:ctrlPr>
                        </m:dPr>
                        <m:e>
                          <m:r>
                            <a:rPr lang="ar-AE" sz="4800" i="1"/>
                            <m:t>𝐷</m:t>
                          </m:r>
                          <m:r>
                            <a:rPr lang="ar-AE" sz="4800"/>
                            <m:t>×</m:t>
                          </m:r>
                          <m:r>
                            <a:rPr lang="ar-AE" sz="4800"/>
                            <m:t>25</m:t>
                          </m:r>
                        </m:e>
                      </m:d>
                      <m:r>
                        <a:rPr lang="ar-AE" sz="4800"/>
                        <m:t>+</m:t>
                      </m:r>
                      <m:d>
                        <m:dPr>
                          <m:ctrlPr>
                            <a:rPr lang="ar-AE" sz="4800" i="1"/>
                          </m:ctrlPr>
                        </m:dPr>
                        <m:e>
                          <m:r>
                            <a:rPr lang="ar-AE" sz="4800" i="1"/>
                            <m:t>𝑆</m:t>
                          </m:r>
                          <m:r>
                            <a:rPr lang="ar-AE" sz="4800"/>
                            <m:t>×</m:t>
                          </m:r>
                          <m:r>
                            <a:rPr lang="ar-AE" sz="4800"/>
                            <m:t>10</m:t>
                          </m:r>
                        </m:e>
                      </m:d>
                    </m:oMath>
                  </m:oMathPara>
                </a14:m>
                <a:endParaRPr lang="ar-AE" sz="4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Abgerundetes Rechteck 24">
                <a:extLst>
                  <a:ext uri="{FF2B5EF4-FFF2-40B4-BE49-F238E27FC236}">
                    <a16:creationId xmlns:a16="http://schemas.microsoft.com/office/drawing/2014/main" id="{7EE18412-1520-141D-F175-B5A7C982AF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2263" y="20690500"/>
                <a:ext cx="26891999" cy="11885852"/>
              </a:xfrm>
              <a:prstGeom prst="roundRect">
                <a:avLst>
                  <a:gd name="adj" fmla="val 5782"/>
                </a:avLst>
              </a:prstGeom>
              <a:blipFill>
                <a:blip r:embed="rId3"/>
                <a:stretch>
                  <a:fillRect l="-68"/>
                </a:stretch>
              </a:blipFill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1016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396" y="3875063"/>
            <a:ext cx="27180000" cy="976403"/>
          </a:xfrm>
          <a:noFill/>
          <a:ln/>
        </p:spPr>
        <p:txBody>
          <a:bodyPr wrap="square" tIns="72000" bIns="72000" anchor="ctr" anchorCtr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Pressure and Temperature-based system for early detection of bedsore risk</a:t>
            </a:r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1440001" y="4986438"/>
            <a:ext cx="27525522" cy="1758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Sachin B. Khaire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anket N. Patil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 Arivoule S A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Ramoji Rao D</a:t>
            </a:r>
          </a:p>
          <a:p>
            <a:pPr algn="ctr">
              <a:lnSpc>
                <a:spcPct val="150000"/>
              </a:lnSpc>
            </a:pPr>
            <a:r>
              <a:rPr lang="en-US" sz="4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JBMSHST IIT Guwahati, Assam, India</a:t>
            </a:r>
          </a:p>
        </p:txBody>
      </p:sp>
      <p:sp>
        <p:nvSpPr>
          <p:cNvPr id="3" name="Abgerundetes Rechteck 2"/>
          <p:cNvSpPr/>
          <p:nvPr/>
        </p:nvSpPr>
        <p:spPr bwMode="auto">
          <a:xfrm>
            <a:off x="1440001" y="6887075"/>
            <a:ext cx="18020466" cy="5718690"/>
          </a:xfrm>
          <a:prstGeom prst="roundRect">
            <a:avLst>
              <a:gd name="adj" fmla="val 9821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45720" rIns="10800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1" i="0" u="none" strike="noStrike" cap="none" normalizeH="0" baseline="0" dirty="0">
                <a:ln>
                  <a:noFill/>
                </a:ln>
                <a:solidFill>
                  <a:srgbClr val="0069B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57200" lvl="0" indent="-457200" defTabSz="4176713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Bed sores, also known as pressure ulcers or decubitus ulcers, are localized injuries to the skin and underlying tissue that occur due to prolonged pressure, most commonly over bony prominences.</a:t>
            </a:r>
          </a:p>
          <a:p>
            <a:pPr marL="457200" lvl="0" indent="-457200" defTabSz="4176713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Bedridden patients are at high risk of pressure ulcers due to prolonged pressure and heat buildup.                            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4176713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Early tissue damage often occurs before visible skin changes.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4176713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Current monitoring relies on manual checks and caregiver observation.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defTabSz="4176713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There is a need for a low-cost, real-time bedsore risk detection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AutoShape 5" descr="https://www.iconspng.com/images/simple-cartoon-mouse/simple-cartoon-mouse.jpg"/>
          <p:cNvSpPr>
            <a:spLocks noChangeAspect="1" noChangeArrowheads="1"/>
          </p:cNvSpPr>
          <p:nvPr/>
        </p:nvSpPr>
        <p:spPr bwMode="auto">
          <a:xfrm>
            <a:off x="155575" y="-3992563"/>
            <a:ext cx="8439150" cy="832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7" descr="https://www.iconspng.com/images/simple-cartoon-mouse/simple-cartoon-mous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AutoShape 10" descr="https://upload.wikimedia.org/wikipedia/commons/thumb/d/d4/Liver.svg/1280px-Liver.svg.png"/>
          <p:cNvSpPr>
            <a:spLocks noChangeAspect="1" noChangeArrowheads="1"/>
          </p:cNvSpPr>
          <p:nvPr/>
        </p:nvSpPr>
        <p:spPr bwMode="auto">
          <a:xfrm>
            <a:off x="155575" y="-3992563"/>
            <a:ext cx="11477625" cy="832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Abgerundetes Rechteck 103"/>
          <p:cNvSpPr/>
          <p:nvPr/>
        </p:nvSpPr>
        <p:spPr bwMode="auto">
          <a:xfrm>
            <a:off x="15106133" y="37672208"/>
            <a:ext cx="13260737" cy="2878892"/>
          </a:xfrm>
          <a:prstGeom prst="roundRect">
            <a:avLst>
              <a:gd name="adj" fmla="val 23870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1" i="0" u="none" strike="noStrike" cap="none" normalizeH="0" baseline="0" dirty="0">
                <a:ln>
                  <a:noFill/>
                </a:ln>
                <a:solidFill>
                  <a:srgbClr val="0069B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defTabSz="4176713">
              <a:tabLst>
                <a:tab pos="990600" algn="l"/>
              </a:tabLst>
            </a:pPr>
            <a:r>
              <a:rPr lang="en-US" sz="2800" dirty="0">
                <a:solidFill>
                  <a:prstClr val="black"/>
                </a:solidFill>
                <a:latin typeface="+mj-lt"/>
                <a:cs typeface="Arial" pitchFamily="34" charset="0"/>
              </a:rPr>
              <a:t>[1] </a:t>
            </a:r>
            <a:r>
              <a:rPr lang="en-IN" sz="2800" dirty="0"/>
              <a:t>NPUAP, Pressure Ulcer Prevention Guidelines, 2019</a:t>
            </a:r>
            <a:endParaRPr lang="en-US" sz="2800" dirty="0">
              <a:latin typeface="+mj-lt"/>
            </a:endParaRPr>
          </a:p>
          <a:p>
            <a:pPr defTabSz="4176713">
              <a:tabLst>
                <a:tab pos="990600" algn="l"/>
              </a:tabLst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[2]</a:t>
            </a:r>
            <a:r>
              <a:rPr lang="en-US" sz="2800" dirty="0"/>
              <a:t> Minteer et al., Pressure Ulcer Monitoring Platform (PUMP), Journal of Wound Care, 2019</a:t>
            </a:r>
          </a:p>
          <a:p>
            <a:pPr defTabSz="4176713">
              <a:tabLst>
                <a:tab pos="990600" algn="l"/>
              </a:tabLst>
            </a:pPr>
            <a:r>
              <a:rPr lang="fr-FR" sz="2800" dirty="0"/>
              <a:t>[3] A. Memari et al./ Transactions on Machine Intelligence 3(2) (2020) 101-110</a:t>
            </a:r>
            <a:endParaRPr lang="en-US" sz="2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8" name="Abgerundetes Rechteck 67"/>
          <p:cNvSpPr/>
          <p:nvPr/>
        </p:nvSpPr>
        <p:spPr bwMode="auto">
          <a:xfrm>
            <a:off x="1440000" y="32837663"/>
            <a:ext cx="13153136" cy="7713437"/>
          </a:xfrm>
          <a:prstGeom prst="roundRect">
            <a:avLst>
              <a:gd name="adj" fmla="val 815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800" b="1" dirty="0">
                <a:solidFill>
                  <a:srgbClr val="0069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 &amp; Conclusion</a:t>
            </a:r>
          </a:p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4800" b="1" dirty="0">
              <a:solidFill>
                <a:srgbClr val="0069B4"/>
              </a:solidFill>
            </a:endParaRPr>
          </a:p>
          <a:p>
            <a:pPr marL="457200" indent="-457200" defTabSz="4176713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skills in hardware prototyping, embedded programming, and system integration</a:t>
            </a:r>
          </a:p>
          <a:p>
            <a:pPr defTabSz="4176713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4176713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design concept of a low-cost bedsore risk detection system</a:t>
            </a:r>
          </a:p>
          <a:p>
            <a:pPr defTabSz="4176713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4176713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placement and threshold calibration and risk model prediction may need improvement</a:t>
            </a:r>
          </a:p>
          <a:p>
            <a:pPr defTabSz="4176713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defTabSz="4176713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potential for early bedsore risk detection in bedridden patients</a:t>
            </a:r>
          </a:p>
          <a:p>
            <a:pPr marR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3200" b="1" dirty="0"/>
          </a:p>
        </p:txBody>
      </p:sp>
      <p:sp>
        <p:nvSpPr>
          <p:cNvPr id="283" name="Abgerundetes Rechteck 282"/>
          <p:cNvSpPr/>
          <p:nvPr/>
        </p:nvSpPr>
        <p:spPr bwMode="auto">
          <a:xfrm>
            <a:off x="15139988" y="32942570"/>
            <a:ext cx="13004274" cy="4415395"/>
          </a:xfrm>
          <a:prstGeom prst="roundRect">
            <a:avLst>
              <a:gd name="adj" fmla="val 15723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800" b="1" i="0" u="none" strike="noStrike" cap="none" normalizeH="0" baseline="0" dirty="0">
                <a:ln>
                  <a:noFill/>
                </a:ln>
                <a:solidFill>
                  <a:srgbClr val="0069B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Outlook</a:t>
            </a:r>
          </a:p>
          <a:p>
            <a:pPr marL="723900" lvl="1" defTabSz="4176713">
              <a:buSzPct val="118000"/>
              <a:tabLst>
                <a:tab pos="914400" algn="l"/>
              </a:tabLst>
            </a:pPr>
            <a:endParaRPr lang="en-US" sz="1000" dirty="0"/>
          </a:p>
          <a:p>
            <a:pPr marL="1181100" lvl="1" indent="-457200" defTabSz="4176713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of wearable cushion design for patient comfort</a:t>
            </a:r>
          </a:p>
          <a:p>
            <a:pPr marL="1181100" lvl="1" indent="-457200" defTabSz="4176713"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81100" lvl="1" indent="-457200" defTabSz="4176713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reliability training and validation of the monitoring system</a:t>
            </a:r>
          </a:p>
        </p:txBody>
      </p:sp>
      <p:sp>
        <p:nvSpPr>
          <p:cNvPr id="25" name="Abgerundetes Rechteck 24"/>
          <p:cNvSpPr/>
          <p:nvPr/>
        </p:nvSpPr>
        <p:spPr bwMode="auto">
          <a:xfrm>
            <a:off x="1636639" y="12850996"/>
            <a:ext cx="13260736" cy="7499469"/>
          </a:xfrm>
          <a:prstGeom prst="roundRect">
            <a:avLst>
              <a:gd name="adj" fmla="val 5782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800" b="1" dirty="0">
                <a:solidFill>
                  <a:srgbClr val="0069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of the art</a:t>
            </a:r>
          </a:p>
          <a:p>
            <a:pPr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Alternating pressure air mattresses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KosmoCare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 Bed for Bedsore prevention  (Mostly High Cost)</a:t>
            </a:r>
          </a:p>
          <a:p>
            <a:pPr>
              <a:defRPr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sensor-based pressure monitoring:</a:t>
            </a:r>
          </a:p>
          <a:p>
            <a:pPr>
              <a:defRPr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SENSOMATT Pressure Monitoring Sensor Sheet, XSENSOR </a:t>
            </a:r>
          </a:p>
          <a:p>
            <a:pPr>
              <a:defRPr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 Site PT patient turn system (restricted to multi-speciality hospitals)</a:t>
            </a:r>
          </a:p>
          <a:p>
            <a:pPr>
              <a:defRPr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 embedded prototypes exist</a:t>
            </a:r>
          </a:p>
          <a:p>
            <a:pPr marR="0" defTabSz="4176713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indent="-571500" defTabSz="4176713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need of  smart,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and real-time monitoring systems</a:t>
            </a:r>
            <a:endParaRPr lang="en-US" sz="3400" b="1" dirty="0">
              <a:solidFill>
                <a:srgbClr val="0069B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4800" b="1" dirty="0">
              <a:solidFill>
                <a:srgbClr val="0069B4"/>
              </a:solidFill>
            </a:endParaRPr>
          </a:p>
          <a:p>
            <a:pPr algn="just" defTabSz="4176713">
              <a:tabLst>
                <a:tab pos="990600" algn="l"/>
              </a:tabLst>
            </a:pP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20" name="Abgerundetes Rechteck 219"/>
          <p:cNvSpPr/>
          <p:nvPr/>
        </p:nvSpPr>
        <p:spPr bwMode="auto">
          <a:xfrm>
            <a:off x="15329928" y="12748228"/>
            <a:ext cx="13036941" cy="7602238"/>
          </a:xfrm>
          <a:prstGeom prst="roundRect">
            <a:avLst>
              <a:gd name="adj" fmla="val 9283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normalizeH="0" baseline="0" dirty="0">
                <a:ln>
                  <a:noFill/>
                </a:ln>
                <a:solidFill>
                  <a:srgbClr val="0069B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technological idea</a:t>
            </a:r>
            <a:endParaRPr lang="en-US" sz="4400" b="1" dirty="0">
              <a:solidFill>
                <a:srgbClr val="0069B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defTabSz="4176713">
              <a:buSzPct val="118000"/>
              <a:tabLst>
                <a:tab pos="914400" algn="l"/>
              </a:tabLst>
            </a:pP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Prolonged interface pressure detected by the FSR sensors and temperature changes detected by BME280 is converted from sensor voltage into force (N) using pressure–force conversion principles.</a:t>
            </a:r>
          </a:p>
          <a:p>
            <a:pPr marL="266700" defTabSz="4176713">
              <a:buSzPct val="118000"/>
              <a:tabLst>
                <a:tab pos="914400" algn="l"/>
              </a:tabLst>
            </a:pP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calculated force and exposure duration exceed the predefined risk threshold, the system activates the buzzer and generates a high-risk alert through the Blynk IoT monitoring console.</a:t>
            </a:r>
          </a:p>
          <a:p>
            <a:pPr marL="266700" defTabSz="4176713">
              <a:buSzPct val="118000"/>
              <a:tabLst>
                <a:tab pos="914400" algn="l"/>
              </a:tabLst>
            </a:pPr>
            <a:endParaRPr lang="en-US" sz="3600" baseline="30000" dirty="0"/>
          </a:p>
          <a:p>
            <a:pPr marL="838200" indent="-571500" defTabSz="4176713">
              <a:buSzPct val="118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en-US" sz="3600" dirty="0"/>
          </a:p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4800" b="1" dirty="0">
              <a:solidFill>
                <a:srgbClr val="0069B4"/>
              </a:solidFill>
            </a:endParaRPr>
          </a:p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defTabSz="4176713">
              <a:tabLst>
                <a:tab pos="990600" algn="l"/>
              </a:tabLst>
            </a:pP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5B4E2F8E-9412-48E8-AC0B-EBC476173475}"/>
              </a:ext>
            </a:extLst>
          </p:cNvPr>
          <p:cNvCxnSpPr>
            <a:cxnSpLocks/>
          </p:cNvCxnSpPr>
          <p:nvPr/>
        </p:nvCxnSpPr>
        <p:spPr bwMode="auto">
          <a:xfrm>
            <a:off x="14803582" y="27592670"/>
            <a:ext cx="526347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88B29A2-30E7-B017-33FB-E2DF6A41281C}"/>
              </a:ext>
            </a:extLst>
          </p:cNvPr>
          <p:cNvCxnSpPr>
            <a:cxnSpLocks/>
          </p:cNvCxnSpPr>
          <p:nvPr/>
        </p:nvCxnSpPr>
        <p:spPr bwMode="auto">
          <a:xfrm>
            <a:off x="1440000" y="6642622"/>
            <a:ext cx="26892000" cy="0"/>
          </a:xfrm>
          <a:prstGeom prst="line">
            <a:avLst/>
          </a:prstGeom>
          <a:solidFill>
            <a:schemeClr val="accent1"/>
          </a:solidFill>
          <a:ln w="190500" cap="flat" cmpd="tri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A8B14B1-51E6-5482-23D0-1649F339851A}"/>
              </a:ext>
            </a:extLst>
          </p:cNvPr>
          <p:cNvSpPr txBox="1"/>
          <p:nvPr/>
        </p:nvSpPr>
        <p:spPr>
          <a:xfrm>
            <a:off x="21116651" y="28389038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D327A4-75F5-4E9D-A25C-4C930D5103D2}"/>
              </a:ext>
            </a:extLst>
          </p:cNvPr>
          <p:cNvSpPr txBox="1"/>
          <p:nvPr/>
        </p:nvSpPr>
        <p:spPr>
          <a:xfrm>
            <a:off x="-2645989" y="23348478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FD60CC-DAB6-8926-CD54-82ECE1AC4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887" y="15513130"/>
            <a:ext cx="12242077" cy="47864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955DBB-B1E0-44E3-F8E6-1822BA8C02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6886" y="7472294"/>
            <a:ext cx="9850715" cy="4848226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05BE9CF-7300-340A-B079-F55DDFA76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844848"/>
              </p:ext>
            </p:extLst>
          </p:nvPr>
        </p:nvGraphicFramePr>
        <p:xfrm>
          <a:off x="18504301" y="23883110"/>
          <a:ext cx="9386182" cy="79828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3150">
                  <a:extLst>
                    <a:ext uri="{9D8B030D-6E8A-4147-A177-3AD203B41FA5}">
                      <a16:colId xmlns:a16="http://schemas.microsoft.com/office/drawing/2014/main" val="1541665013"/>
                    </a:ext>
                  </a:extLst>
                </a:gridCol>
                <a:gridCol w="2606322">
                  <a:extLst>
                    <a:ext uri="{9D8B030D-6E8A-4147-A177-3AD203B41FA5}">
                      <a16:colId xmlns:a16="http://schemas.microsoft.com/office/drawing/2014/main" val="2043382321"/>
                    </a:ext>
                  </a:extLst>
                </a:gridCol>
                <a:gridCol w="1806522">
                  <a:extLst>
                    <a:ext uri="{9D8B030D-6E8A-4147-A177-3AD203B41FA5}">
                      <a16:colId xmlns:a16="http://schemas.microsoft.com/office/drawing/2014/main" val="1327000867"/>
                    </a:ext>
                  </a:extLst>
                </a:gridCol>
                <a:gridCol w="2970188">
                  <a:extLst>
                    <a:ext uri="{9D8B030D-6E8A-4147-A177-3AD203B41FA5}">
                      <a16:colId xmlns:a16="http://schemas.microsoft.com/office/drawing/2014/main" val="544038230"/>
                    </a:ext>
                  </a:extLst>
                </a:gridCol>
              </a:tblGrid>
              <a:tr h="18275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>
                          <a:effectLst/>
                        </a:rPr>
                        <a:t>Pressure (mmHg)</a:t>
                      </a:r>
                      <a:endParaRPr lang="en-IN" sz="3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>
                          <a:effectLst/>
                        </a:rPr>
                        <a:t>Local Skin Temperature Change (ΔT)</a:t>
                      </a:r>
                      <a:endParaRPr lang="en-IN" sz="3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Risk Level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Interpretation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2585192"/>
                  </a:ext>
                </a:extLst>
              </a:tr>
              <a:tr h="1599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&lt; 32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>
                          <a:effectLst/>
                        </a:rPr>
                        <a:t>ΔT &lt; 0.5°C</a:t>
                      </a:r>
                      <a:endParaRPr lang="en-IN" sz="3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Low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Normal pressure &amp; microclimate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1383746"/>
                  </a:ext>
                </a:extLst>
              </a:tr>
              <a:tr h="13639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32–40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ΔT 0.5–1.0°C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Moderate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>
                          <a:effectLst/>
                        </a:rPr>
                        <a:t>Early tissue stress possible</a:t>
                      </a:r>
                      <a:endParaRPr lang="en-IN" sz="3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9078663"/>
                  </a:ext>
                </a:extLst>
              </a:tr>
              <a:tr h="13639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>
                          <a:effectLst/>
                        </a:rPr>
                        <a:t>40–60</a:t>
                      </a:r>
                      <a:endParaRPr lang="en-IN" sz="3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>
                          <a:effectLst/>
                        </a:rPr>
                        <a:t>ΔT 1.0–1.2°C</a:t>
                      </a:r>
                      <a:endParaRPr lang="en-IN" sz="3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High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Reduced perfusion risk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2667533"/>
                  </a:ext>
                </a:extLst>
              </a:tr>
              <a:tr h="18275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&gt; 60 or prolonged &gt;32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ΔT &gt; 1.2°C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Critical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000" kern="100" dirty="0">
                          <a:effectLst/>
                        </a:rPr>
                        <a:t>High bedsore formation risk</a:t>
                      </a:r>
                      <a:endParaRPr lang="en-IN" sz="3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8751131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9345E812-2556-D6E5-3793-64A444870FD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733" y="24801660"/>
            <a:ext cx="4402582" cy="58554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08B4766-31D1-5F1F-E4B9-1D42743142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182" y="24801660"/>
            <a:ext cx="4677017" cy="586308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EEF2295-2954-B79A-D6BF-78A1787CD6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456" y="25672849"/>
            <a:ext cx="6409753" cy="4113092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D718F3C-C995-B007-3B12-93444CFB007E}"/>
              </a:ext>
            </a:extLst>
          </p:cNvPr>
          <p:cNvSpPr/>
          <p:nvPr/>
        </p:nvSpPr>
        <p:spPr bwMode="auto">
          <a:xfrm>
            <a:off x="2135712" y="30926057"/>
            <a:ext cx="9497487" cy="100811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Final Prototype 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316D0E1-AB02-F596-B3BB-2FE32A954B78}"/>
              </a:ext>
            </a:extLst>
          </p:cNvPr>
          <p:cNvSpPr/>
          <p:nvPr/>
        </p:nvSpPr>
        <p:spPr bwMode="auto">
          <a:xfrm>
            <a:off x="11960904" y="30657131"/>
            <a:ext cx="5947492" cy="100811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/>
              <a:t>Blynk Interface</a:t>
            </a:r>
            <a:endParaRPr kumimoji="0" lang="en-I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6F1B25-18B5-8421-A53B-70FFCE7E8373}"/>
              </a:ext>
            </a:extLst>
          </p:cNvPr>
          <p:cNvSpPr/>
          <p:nvPr/>
        </p:nvSpPr>
        <p:spPr bwMode="auto">
          <a:xfrm>
            <a:off x="19745526" y="11226089"/>
            <a:ext cx="9001000" cy="661342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DADD247-FFD5-B257-7648-4260238577CF}"/>
              </a:ext>
            </a:extLst>
          </p:cNvPr>
          <p:cNvSpPr/>
          <p:nvPr/>
        </p:nvSpPr>
        <p:spPr bwMode="auto">
          <a:xfrm>
            <a:off x="18464135" y="22747507"/>
            <a:ext cx="6355980" cy="97848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/>
              <a:t>Critical Parameters:</a:t>
            </a:r>
            <a:endParaRPr kumimoji="0" lang="en-IN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T_Poster_A0_hoch_e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9682"/>
      </a:accent1>
      <a:accent2>
        <a:srgbClr val="4664AA"/>
      </a:accent2>
      <a:accent3>
        <a:srgbClr val="FFFFFF"/>
      </a:accent3>
      <a:accent4>
        <a:srgbClr val="000000"/>
      </a:accent4>
      <a:accent5>
        <a:srgbClr val="AAC9C1"/>
      </a:accent5>
      <a:accent6>
        <a:srgbClr val="3F5A9A"/>
      </a:accent6>
      <a:hlink>
        <a:srgbClr val="D9D9D9"/>
      </a:hlink>
      <a:folHlink>
        <a:srgbClr val="B3E0DA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9682"/>
        </a:accent1>
        <a:accent2>
          <a:srgbClr val="4664AA"/>
        </a:accent2>
        <a:accent3>
          <a:srgbClr val="FFFFFF"/>
        </a:accent3>
        <a:accent4>
          <a:srgbClr val="000000"/>
        </a:accent4>
        <a:accent5>
          <a:srgbClr val="AAC9C1"/>
        </a:accent5>
        <a:accent6>
          <a:srgbClr val="3F5A9A"/>
        </a:accent6>
        <a:hlink>
          <a:srgbClr val="D9D9D9"/>
        </a:hlink>
        <a:folHlink>
          <a:srgbClr val="B3E0D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KIT_Poster_A0_hoch_en</Template>
  <TotalTime>696</TotalTime>
  <Words>479</Words>
  <Application>Microsoft Office PowerPoint</Application>
  <PresentationFormat>Custom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Times New Roman</vt:lpstr>
      <vt:lpstr>Wingdings</vt:lpstr>
      <vt:lpstr>KIT_Poster_A0_hoch_en</vt:lpstr>
      <vt:lpstr>Smart Pressure and Temperature-based system for early detection of bedsore risk</vt:lpstr>
    </vt:vector>
  </TitlesOfParts>
  <Company>KIT 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Überschrift – Thema, Arial 80 pt fett schwarz oder KIT-Grün</dc:title>
  <dc:creator>Erwin Fuhrer</dc:creator>
  <cp:lastModifiedBy>sanket patil</cp:lastModifiedBy>
  <cp:revision>244</cp:revision>
  <dcterms:created xsi:type="dcterms:W3CDTF">2015-06-11T07:11:49Z</dcterms:created>
  <dcterms:modified xsi:type="dcterms:W3CDTF">2026-05-12T13:07:58Z</dcterms:modified>
</cp:coreProperties>
</file>